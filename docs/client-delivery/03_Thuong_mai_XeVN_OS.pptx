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E1B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AB4D8"/>
          </a:solidFill>
          <a:ln/>
        </p:spPr>
      </p:sp>
      <p:pic>
        <p:nvPicPr>
          <p:cNvPr id="4" name="Image 0" descr="C:\Users\ADMIN\OneDrive\Tài liệu\Vibe Coding\projects\xevn-ecosystem\docs\client-delivery\assets\logo-unico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26080" y="502920"/>
            <a:ext cx="3291840" cy="8229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6916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XeVN OS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731520" y="260604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AB4D8"/>
                </a:solidFill>
              </a:rPr>
              <a:t>Hệ sinh thái phần mềm đa công ty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0AB4D8"/>
                </a:solidFill>
              </a:rPr>
              <a:t>Vận tải · Logistics · Nhân sự · Điều hành tập đoàn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457200" y="42062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8B8D0"/>
                </a:solidFill>
              </a:rPr>
              <a:t>Tài liệu thương mại · Căn cứ BRD Tổng hợp · Tháng 5/2026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3D7DE8"/>
          </a:solidFill>
          <a:ln w="12700">
            <a:solidFill>
              <a:srgbClr val="3D7D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Nội dung trình bày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8046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A2740"/>
                </a:solidFill>
              </a:rPr>
              <a:t>Bối cảnh &amp; giải pháp XeVN OS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A2740"/>
                </a:solidFill>
              </a:rPr>
              <a:t>Giá trị mang lại cho doanh nghiệp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A2740"/>
                </a:solidFill>
              </a:rPr>
              <a:t>Ưu điểm &amp; bản đồ tính năng (373 chức năng)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A2740"/>
                </a:solidFill>
              </a:rPr>
              <a:t>Chi tiết tính năng: Cổng · XBOS · HRM · Logistic · Mobile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A2740"/>
                </a:solidFill>
              </a:rPr>
              <a:t>Kiến trúc &amp; quy tắc vận hành đa công ty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A2740"/>
                </a:solidFill>
              </a:rPr>
              <a:t>Lộ trình triển khai &amp; cam kết nghiệm thu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7090"/>
                </a:solidFill>
              </a:rPr>
              <a:t>XeVN OS · Thương mại · 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3D7DE8"/>
          </a:solidFill>
          <a:ln w="12700">
            <a:solidFill>
              <a:srgbClr val="3D7D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Bối cảnh — Tập đoàn vận tải đa công ty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8046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A2740"/>
                </a:solidFill>
              </a:rPr>
              <a:t>Nhiều công ty con: dữ liệu và quy trình dễ phân mảnh, khó điều hành thống nhất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A2740"/>
                </a:solidFill>
              </a:rPr>
              <a:t>Danh mục nhân sự, logistic, tổ chức cần một nguồn chuẩn tập đoàn — không nhân bản thủ công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A2740"/>
                </a:solidFill>
              </a:rPr>
              <a:t>Phê duyệt đơn nghỉ, mở rộng danh mục, báo giá… cần một hộp thư &amp; quy trình tập trung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A2740"/>
                </a:solidFill>
              </a:rPr>
              <a:t>Nhân viên hiện trường cần ứng dụng di động gắn chấm công, đơn từ, chuyến xe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44348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7090"/>
                </a:solidFill>
              </a:rPr>
              <a:t>Nguồn: BRD §1 Tóm tắt điều hành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7090"/>
                </a:solidFill>
              </a:rPr>
              <a:t>XeVN OS · Thương mại · 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3D7DE8"/>
          </a:solidFill>
          <a:ln w="12700">
            <a:solidFill>
              <a:srgbClr val="3D7D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Giải pháp: XeVN Ecosystem OS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740"/>
                </a:solidFill>
              </a:rPr>
              <a:t>Một nền tảng phần mềm thống nhất: cổng điều hành + lõi XBOS + nghiệp vụ HRM &amp; Logistic — triển khai theo giai đoạn, đo được bằng 373 tình huống sử dụng đã chuẩn hóa.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02920" y="2148840"/>
            <a:ext cx="1920240" cy="1234440"/>
          </a:xfrm>
          <a:prstGeom prst="rect">
            <a:avLst/>
          </a:prstGeom>
          <a:solidFill>
            <a:srgbClr val="EEF4FF"/>
          </a:solidFill>
          <a:ln w="12700">
            <a:solidFill>
              <a:srgbClr val="0A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233172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3D7DE8"/>
                </a:solidFill>
              </a:rPr>
              <a:t>373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02920" y="288036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7090"/>
                </a:solidFill>
              </a:rPr>
              <a:t>Tình huống sử dụng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560320" y="2148840"/>
            <a:ext cx="1920240" cy="1234440"/>
          </a:xfrm>
          <a:prstGeom prst="rect">
            <a:avLst/>
          </a:prstGeom>
          <a:solidFill>
            <a:srgbClr val="EEF4FF"/>
          </a:solidFill>
          <a:ln w="12700">
            <a:solidFill>
              <a:srgbClr val="0A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0" y="233172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3D7DE8"/>
                </a:solidFill>
              </a:rPr>
              <a:t>183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2560320" y="288036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7090"/>
                </a:solidFill>
              </a:rPr>
              <a:t>Danh mục cấu hình XBOS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17720" y="2148840"/>
            <a:ext cx="1920240" cy="1234440"/>
          </a:xfrm>
          <a:prstGeom prst="rect">
            <a:avLst/>
          </a:prstGeom>
          <a:solidFill>
            <a:srgbClr val="EEF4FF"/>
          </a:solidFill>
          <a:ln w="12700">
            <a:solidFill>
              <a:srgbClr val="0A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17720" y="233172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3D7DE8"/>
                </a:solidFill>
              </a:rPr>
              <a:t>4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4617720" y="288036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7090"/>
                </a:solidFill>
              </a:rPr>
              <a:t>Phân hệ tích hợp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675120" y="2148840"/>
            <a:ext cx="1920240" cy="1234440"/>
          </a:xfrm>
          <a:prstGeom prst="rect">
            <a:avLst/>
          </a:prstGeom>
          <a:solidFill>
            <a:srgbClr val="EEF4FF"/>
          </a:solidFill>
          <a:ln w="12700">
            <a:solidFill>
              <a:srgbClr val="0AB4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75120" y="233172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3D7DE8"/>
                </a:solidFill>
              </a:rPr>
              <a:t>2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6675120" y="288036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7090"/>
                </a:solidFill>
              </a:rPr>
              <a:t>Giai đoạn triển khai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7090"/>
                </a:solidFill>
              </a:rPr>
              <a:t>XeVN OS · Thương mại · 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3D7DE8"/>
          </a:solidFill>
          <a:ln w="12700">
            <a:solidFill>
              <a:srgbClr val="3D7D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Bốn thành phần hệ sinh thái</a:t>
            </a:r>
            <a:endParaRPr lang="en-US" sz="2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397764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26974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Thành phần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7D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7DE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740"/>
                          </a:solidFill>
                        </a:rPr>
                        <a:t>Cổng Web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740"/>
                          </a:solidFill>
                        </a:rPr>
                        <a:t>Một điểm vào: bảng điều hành, trung tâm điều hành, nhúng nhân sự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740"/>
                          </a:solidFill>
                        </a:rPr>
                        <a:t>XBOS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740"/>
                          </a:solidFill>
                        </a:rPr>
                        <a:t>Tổ chức, danh mục chuẩn, quy trình, RACI, dữ liệu gốc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740"/>
                          </a:solidFill>
                        </a:rPr>
                        <a:t>Nhân sự (HRM)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740"/>
                          </a:solidFill>
                        </a:rPr>
                        <a:t>Hồ sơ NV, chấm công, lương, tuyển dụng, app NV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740"/>
                          </a:solidFill>
                        </a:rPr>
                        <a:t>Logistic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740"/>
                          </a:solidFill>
                        </a:rPr>
                        <a:t>KD → điều phối → chuyến → app lái xe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1097280"/>
          <a:ext cx="397764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26974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Phân tách trách nhiệm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7D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7DE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740"/>
                          </a:solidFill>
                        </a:rPr>
                        <a:t>Cổng Web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740"/>
                          </a:solidFill>
                        </a:rPr>
                        <a:t>Điều hành — không thay nghiệp vụ chuyên sâu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740"/>
                          </a:solidFill>
                        </a:rPr>
                        <a:t>XBOS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740"/>
                          </a:solidFill>
                        </a:rPr>
                        <a:t>Chuẩn &amp; quy trình — không thay đơn/chuyến chi tiết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740"/>
                          </a:solidFill>
                        </a:rPr>
                        <a:t>HRM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740"/>
                          </a:solidFill>
                        </a:rPr>
                        <a:t>Vòng đời nhân sự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740"/>
                          </a:solidFill>
                        </a:rPr>
                        <a:t>Logistic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740"/>
                          </a:solidFill>
                        </a:rPr>
                        <a:t>Chuỗi kinh doanh → vận hành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7090"/>
                </a:solidFill>
              </a:rPr>
              <a:t>XeVN OS · Thương mại · 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E1B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AB4D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Giá trị &amp; tính năng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260604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AB4D8"/>
                </a:solidFill>
              </a:rPr>
              <a:t>XeVN OS giải quyết gì và mang lại lợi ích gì cho doanh nghiệp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3D7DE8"/>
          </a:solidFill>
          <a:ln w="12700">
            <a:solidFill>
              <a:srgbClr val="3D7D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Giá trị mang lại cho doanh nghiệp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1051560"/>
            <a:ext cx="2011680" cy="3429000"/>
          </a:xfrm>
          <a:prstGeom prst="rect">
            <a:avLst/>
          </a:prstGeom>
          <a:solidFill>
            <a:srgbClr val="EEF4FF"/>
          </a:solidFill>
          <a:ln w="12700">
            <a:solidFill>
              <a:srgbClr val="3D7D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23444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D7DE8"/>
                </a:solidFill>
              </a:rPr>
              <a:t>Điều hành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3D7DE8"/>
                </a:solidFill>
              </a:rPr>
              <a:t>thống nhất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1828800"/>
            <a:ext cx="182880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2740"/>
                </a:solidFill>
              </a:rPr>
              <a:t>Một cổng điều hành: nhìn tập đoàn và từng công ty con; KPI, hộp thư duyệt, thiết lập tổ chức tập trung.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560320" y="1051560"/>
            <a:ext cx="2011680" cy="3429000"/>
          </a:xfrm>
          <a:prstGeom prst="rect">
            <a:avLst/>
          </a:prstGeom>
          <a:solidFill>
            <a:srgbClr val="EEF4FF"/>
          </a:solidFill>
          <a:ln w="12700">
            <a:solidFill>
              <a:srgbClr val="3D7D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60320" y="123444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D7DE8"/>
                </a:solidFill>
              </a:rPr>
              <a:t>Chuẩn hóa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3D7DE8"/>
                </a:solidFill>
              </a:rPr>
              <a:t>&amp; tuân thủ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651760" y="1828800"/>
            <a:ext cx="182880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2740"/>
                </a:solidFill>
              </a:rPr>
              <a:t>Danh mục và quy trình do tập đoàn ban hành; mở rộng có phê duyệt; nhật ký rõ ràng — giảm lệch chuẩn giữa các đơn vị.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1051560"/>
            <a:ext cx="2011680" cy="3429000"/>
          </a:xfrm>
          <a:prstGeom prst="rect">
            <a:avLst/>
          </a:prstGeom>
          <a:solidFill>
            <a:srgbClr val="EEF4FF"/>
          </a:solidFill>
          <a:ln w="12700">
            <a:solidFill>
              <a:srgbClr val="3D7D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09160" y="123444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D7DE8"/>
                </a:solidFill>
              </a:rPr>
              <a:t>Hiệu quả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3D7DE8"/>
                </a:solidFill>
              </a:rPr>
              <a:t>vận hành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00600" y="1828800"/>
            <a:ext cx="182880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2740"/>
                </a:solidFill>
              </a:rPr>
              <a:t>HR, điều phối, lái xe làm việc trên cùng nền dữ liệu; giảm nhập liệu trùng, giảm tra cứu rời rạc.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858000" y="1051560"/>
            <a:ext cx="2011680" cy="3429000"/>
          </a:xfrm>
          <a:prstGeom prst="rect">
            <a:avLst/>
          </a:prstGeom>
          <a:solidFill>
            <a:srgbClr val="EEF4FF"/>
          </a:solidFill>
          <a:ln w="12700">
            <a:solidFill>
              <a:srgbClr val="3D7D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0" y="123444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D7DE8"/>
                </a:solidFill>
              </a:rPr>
              <a:t>Mở rộng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3D7DE8"/>
                </a:solidFill>
              </a:rPr>
              <a:t>có kiểm soát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949440" y="1828800"/>
            <a:ext cx="182880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2740"/>
                </a:solidFill>
              </a:rPr>
              <a:t>Triển khai theo 2 giai đoạn; 373 tình huống sử dụng có mã — phạm vi hợp đồng và nghiệm thu minh bạch.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7090"/>
                </a:solidFill>
              </a:rPr>
              <a:t>XeVN OS · Thương mại · 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3D7DE8"/>
          </a:solidFill>
          <a:ln w="12700">
            <a:solidFill>
              <a:srgbClr val="3D7D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Ưu điểm so với mô hình rời rạc</a:t>
            </a:r>
            <a:endParaRPr lang="en-US" sz="2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397764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26974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Trước đây (thường gặp)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7D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7DE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740"/>
                          </a:solidFill>
                        </a:rPr>
                        <a:t>Dữ liệu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740"/>
                          </a:solidFill>
                        </a:rPr>
                        <a:t>Mỗi công ty một bộ danh mục, khó so sánh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740"/>
                          </a:solidFill>
                        </a:rPr>
                        <a:t>Phê duyệt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740"/>
                          </a:solidFill>
                        </a:rPr>
                        <a:t>Nhiều kênh: email, chat, file — khó truy vết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740"/>
                          </a:solidFill>
                        </a:rPr>
                        <a:t>Nhân sự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740"/>
                          </a:solidFill>
                        </a:rPr>
                        <a:t>Excel / phần mềm lẻ, chậm đồng bộ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740"/>
                          </a:solidFill>
                        </a:rPr>
                        <a:t>Logistic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740"/>
                          </a:solidFill>
                        </a:rPr>
                        <a:t>Hệ thống tách, không nối chuỗi KD→chuyến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740"/>
                          </a:solidFill>
                        </a:rPr>
                        <a:t>IT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740"/>
                          </a:solidFill>
                        </a:rPr>
                        <a:t>Tích hợp tốn kém, không có lõi chung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1097280"/>
          <a:ext cx="397764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26974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Với XeVN OS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7D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7DE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740"/>
                          </a:solidFill>
                        </a:rPr>
                        <a:t>Dữ liệu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740"/>
                          </a:solidFill>
                        </a:rPr>
                        <a:t>XBOS — một nguồn chuẩn, phát hành theo công ty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740"/>
                          </a:solidFill>
                        </a:rPr>
                        <a:t>Phê duyệt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740"/>
                          </a:solidFill>
                        </a:rPr>
                        <a:t>Một hộp thư &amp; quy trình cấu hình được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740"/>
                          </a:solidFill>
                        </a:rPr>
                        <a:t>Nhân sự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740"/>
                          </a:solidFill>
                        </a:rPr>
                        <a:t>HRM + app di động, đồng bộ danh mục tự động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740"/>
                          </a:solidFill>
                        </a:rPr>
                        <a:t>Logistic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740"/>
                          </a:solidFill>
                        </a:rPr>
                        <a:t>Chuỗi giá trị thống nhất + app lái xe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740"/>
                          </a:solidFill>
                        </a:rPr>
                        <a:t>IT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740"/>
                          </a:solidFill>
                        </a:rPr>
                        <a:t>Kiến trúc 4 tầng, API rõ, mở rộng theo giai đoạn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7090"/>
                </a:solidFill>
              </a:rPr>
              <a:t>XeVN OS · Thương mại · 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3D7DE8"/>
          </a:solidFill>
          <a:ln w="12700">
            <a:solidFill>
              <a:srgbClr val="3D7D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Bản đồ tính năng theo phân hệ (BRD)</a:t>
            </a:r>
            <a:endParaRPr lang="en-US" sz="2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05840"/>
          <a:ext cx="8321040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1005840"/>
                <a:gridCol w="60807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Phân hệ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7D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Quy mô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7D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Tính năng nổi bật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7DE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D7DE8"/>
                          </a:solidFill>
                        </a:rPr>
                        <a:t>Cổng Web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740"/>
                          </a:solidFill>
                        </a:rPr>
                        <a:t>Trung tâm điều hành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740"/>
                          </a:solidFill>
                        </a:rPr>
                        <a:t>Bảng điều hành, thiết lập công ty/pháp nhân, RACI, hộp thư duyệt, nhúng HRM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D7DE8"/>
                          </a:solidFill>
                        </a:rPr>
                        <a:t>XBOS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740"/>
                          </a:solidFill>
                        </a:rPr>
                        <a:t>104 chức năng nền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740"/>
                          </a:solidFill>
                        </a:rPr>
                        <a:t>Danh mục chuẩn, phát hành, quy trình, tổ chức, chỉ số điều hành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D7DE8"/>
                          </a:solidFill>
                        </a:rPr>
                        <a:t>HRM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740"/>
                          </a:solidFill>
                        </a:rPr>
                        <a:t>119 chức năng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740"/>
                          </a:solidFill>
                        </a:rPr>
                        <a:t>Hồ sơ NV, chấm công, đơn từ, lương, tuyển dụng, 15 tính năng mobile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D7DE8"/>
                          </a:solidFill>
                        </a:rPr>
                        <a:t>Logistic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740"/>
                          </a:solidFill>
                        </a:rPr>
                        <a:t>150 chức năng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740"/>
                          </a:solidFill>
                        </a:rPr>
                        <a:t>KD, điều phối, vận đơn/chuyến, 28 tính năng app lái xe (GĐ2)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11480" y="4480560"/>
            <a:ext cx="83210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7090"/>
                </a:solidFill>
              </a:rPr>
              <a:t>Tổng: 373 tình huống sử dụng · 183 danh mục cấu hình trên XBOS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7090"/>
                </a:solidFill>
              </a:rPr>
              <a:t>XeVN OS · Thương mại · 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3D7DE8"/>
          </a:solidFill>
          <a:ln w="12700">
            <a:solidFill>
              <a:srgbClr val="3D7D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Tính năng — Cổng Web &amp; Trung tâm điều hành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8046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A2740"/>
                </a:solidFill>
              </a:rPr>
              <a:t>Một điểm đăng nhập cho lãnh đạo và quản trị — chọn đúng công ty được phân quyền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A2740"/>
                </a:solidFill>
              </a:rPr>
              <a:t>Trung tâm điều hành: cây pháp nhân, phòng ban, cổ đông, tài liệu pháp lý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A2740"/>
                </a:solidFill>
              </a:rPr>
              <a:t>Hộp thư duyệt tập trung: đơn nghỉ, mở rộng danh mục, báo giá…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A2740"/>
                </a:solidFill>
              </a:rPr>
              <a:t>Nhúng module nhân sự toàn màn hình — trải nghiệm thống nhất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A2740"/>
                </a:solidFill>
              </a:rPr>
              <a:t>Bảng điều hành &amp; chỉ số: hỗ trợ ra quyết định tập đoàn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7090"/>
                </a:solidFill>
              </a:rPr>
              <a:t>XeVN OS · Thương mại · 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3D7DE8"/>
          </a:solidFill>
          <a:ln w="12700">
            <a:solidFill>
              <a:srgbClr val="3D7D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Tính năng — XBOS (lõi nền tảng)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8046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A2740"/>
                </a:solidFill>
              </a:rPr>
              <a:t>Quản trị danh mục đa phân hệ: 6 nhóm trường hồ sơ NV, loại xe, tuyến, khách hàng…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A2740"/>
                </a:solidFill>
              </a:rPr>
              <a:t>Phát hành phiên bản danh mục theo công ty — HRM/Logistic đồng bộ tự động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A2740"/>
                </a:solidFill>
              </a:rPr>
              <a:t>Quy trình phê duyệt: định nghĩa một lần — dùng cho nhiều nghiệp vụ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A2740"/>
                </a:solidFill>
              </a:rPr>
              <a:t>Quản trị mở rộng danh mục: công ty con đề xuất → tập đoàn duyệt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A2740"/>
                </a:solidFill>
              </a:rPr>
              <a:t>Tổ chức &amp; phân quyền: pháp nhân, RACI, ma trận quyền — nguồn chuẩn toàn hệ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44348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7090"/>
                </a:solidFill>
              </a:rPr>
              <a:t>XBOS là lớp cấu hình — không thay thế màn hình nhập đơn/chuyến hàng ngày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7090"/>
                </a:solidFill>
              </a:rPr>
              <a:t>XeVN OS · Thương mại · 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3D7DE8"/>
          </a:solidFill>
          <a:ln w="12700">
            <a:solidFill>
              <a:srgbClr val="3D7D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Tính năng — Nhân sự (HRM)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8046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A2740"/>
                </a:solidFill>
              </a:rPr>
              <a:t>Vòng đời nhân viên: hồ sơ, hợp đồng, biến động, import/export có kiểm tra danh mục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A2740"/>
                </a:solidFill>
              </a:rPr>
              <a:t>Chấm công &amp; đơn từ: tạo đơn nghỉ, chỉnh sửa công — chạy quy trình duyệt trên XBOS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A2740"/>
                </a:solidFill>
              </a:rPr>
              <a:t>Lương &amp; tuyển dụng: phiếu lương, kỳ lương, tin tuyển dụng, hồ sơ ứng viên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A2740"/>
                </a:solidFill>
              </a:rPr>
              <a:t>Cấu hình HRM: đồng bộ danh mục từ XBOS, xem tổng quan, bổ sung lô mở rộng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A2740"/>
                </a:solidFill>
              </a:rPr>
              <a:t>Thông báo &amp; hộp thư: nhân viên và quản lý nhận kết quả duyệt kịp thời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7090"/>
                </a:solidFill>
              </a:rPr>
              <a:t>XeVN OS · Thương mại · 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3D7DE8"/>
          </a:solidFill>
          <a:ln w="12700">
            <a:solidFill>
              <a:srgbClr val="3D7D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Tính năng — Logistic (Giai đoạn 2)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8046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A2740"/>
                </a:solidFill>
              </a:rPr>
              <a:t>Kinh doanh đầu chuỗi: khách hàng, báo giá, hợp đồng, tạo đơn/đặt chỗ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A2740"/>
                </a:solidFill>
              </a:rPr>
              <a:t>Điều phối: gán xe, lái xe, lịch chuyến — dùng danh mục chuẩn từ XBOS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A2740"/>
                </a:solidFill>
              </a:rPr>
              <a:t>Vận hành chuyến: theo dõi tiến độ, chứng từ giao nhận, sự cố hiện trường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A2740"/>
                </a:solidFill>
              </a:rPr>
              <a:t>Ứng dụng lái xe: nhận chuyến, 5 bước trả hàng, định vị, hoàn tất chuyến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A2740"/>
                </a:solidFill>
              </a:rPr>
              <a:t>Chốt doanh thu &amp; lương % tài xế — liên thông dữ liệu chuyến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44348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7090"/>
                </a:solidFill>
              </a:rPr>
              <a:t>Giai đoạn 1: khai đủ 111 danh mục logistic trên XBOS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7090"/>
                </a:solidFill>
              </a:rPr>
              <a:t>XeVN OS · Thương mại · 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3D7DE8"/>
          </a:solidFill>
          <a:ln w="12700">
            <a:solidFill>
              <a:srgbClr val="3D7D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Tính năng — Ứng dụng di động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8046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A2740"/>
                </a:solidFill>
              </a:rPr>
              <a:t>Nhân viên (15 chức năng): đăng nhập, chấm công, đơn nghỉ, phiếu lương, thông báo đẩy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A2740"/>
                </a:solidFill>
              </a:rPr>
              <a:t>Lái xe (28 chức năng — GĐ2): nhận chuyến, cập nhật tiến độ, ảnh chứng từ, báo sự cố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A2740"/>
                </a:solidFill>
              </a:rPr>
              <a:t>Làm việc đúng công ty — không lẫn dữ liệu giữa các đơn vị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A2740"/>
                </a:solidFill>
              </a:rPr>
              <a:t>Hỗ trợ xếp hàng thao tác khi mất mạng (chấm công, ghi nhận — đồng bộ sau)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A2740"/>
                </a:solidFill>
              </a:rPr>
              <a:t>Gắn trực tiếp quy trình duyệt — kết quả trả về tức thì trên điện thoại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7090"/>
                </a:solidFill>
              </a:rPr>
              <a:t>XeVN OS · Thương mại · 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3D7DE8"/>
          </a:solidFill>
          <a:ln w="12700">
            <a:solidFill>
              <a:srgbClr val="3D7D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Giá trị theo từng nhóm người dùng</a:t>
            </a:r>
            <a:endParaRPr lang="en-US" sz="28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397764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26974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Vai trò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7D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7DE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740"/>
                          </a:solidFill>
                        </a:rPr>
                        <a:t>Ban điều hành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740"/>
                          </a:solidFill>
                        </a:rPr>
                        <a:t>Tầm nhìn tập đoàn, KPI, phê duyệt chiến lược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740"/>
                          </a:solidFill>
                        </a:rPr>
                        <a:t>HR / Nhân sự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740"/>
                          </a:solidFill>
                        </a:rPr>
                        <a:t>Chuẩn hồ sơ, chấm công, lương, ít sai sóc danh mục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740"/>
                          </a:solidFill>
                        </a:rPr>
                        <a:t>Điều phối / KD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740"/>
                          </a:solidFill>
                        </a:rPr>
                        <a:t>Đơn — chuyến — xe — lái xe trên một nền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740"/>
                          </a:solidFill>
                        </a:rPr>
                        <a:t>Lái xe / NV hiện trường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740"/>
                          </a:solidFill>
                        </a:rPr>
                        <a:t>App gọn, rõ việc, chứng từ số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740"/>
                          </a:solidFill>
                        </a:rPr>
                        <a:t>IT / Quản trị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740"/>
                          </a:solidFill>
                        </a:rPr>
                        <a:t>Một nền tảng, phạm vi rõ, dễ bảo trì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3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1097280"/>
          <a:ext cx="397764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26974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Kết quả đo được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7D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7DE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740"/>
                          </a:solidFill>
                        </a:rPr>
                        <a:t>BĐH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740"/>
                          </a:solidFill>
                        </a:rPr>
                        <a:t>Giảm thời gian hợp nhất báo cáo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740"/>
                          </a:solidFill>
                        </a:rPr>
                        <a:t>HR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740"/>
                          </a:solidFill>
                        </a:rPr>
                        <a:t>Rút ngày công đóng bảng lương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740"/>
                          </a:solidFill>
                        </a:rPr>
                        <a:t>Điều phối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740"/>
                          </a:solidFill>
                        </a:rPr>
                        <a:t>Giảm gọi điện tra cứu trạng thái chuyến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740"/>
                          </a:solidFill>
                        </a:rPr>
                        <a:t>Lái xe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740"/>
                          </a:solidFill>
                        </a:rPr>
                        <a:t>Giảm giấy tờ, cập nhật real-time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740"/>
                          </a:solidFill>
                        </a:rPr>
                        <a:t>IT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740"/>
                          </a:solidFill>
                        </a:rPr>
                        <a:t>Giảm tích hợp điểm-điểm ad hoc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7090"/>
                </a:solidFill>
              </a:rPr>
              <a:t>XeVN OS · Thương mại · 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E1B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AB4D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Kiến trúc &amp; triển khai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260604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AB4D8"/>
                </a:solidFill>
              </a:rPr>
              <a:t>Nền tảng kỹ thuật và lộ trình đưa vào vận hành</a:t>
            </a:r>
            <a:endParaRPr lang="en-US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3D7DE8"/>
          </a:solidFill>
          <a:ln w="12700">
            <a:solidFill>
              <a:srgbClr val="3D7D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Kiến trúc bốn tầng</a:t>
            </a:r>
            <a:endParaRPr lang="en-US" sz="2800" dirty="0"/>
          </a:p>
        </p:txBody>
      </p:sp>
      <p:pic>
        <p:nvPicPr>
          <p:cNvPr id="4" name="Image 0" descr="C:\Users\ADMIN\OneDrive\Tài liệu\Vibe Coding\projects\xevn-ecosystem\docs\ecosystem\assets\kien-truc-bon-tang-xev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960120"/>
            <a:ext cx="8138160" cy="35204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4526280"/>
            <a:ext cx="8138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7090"/>
                </a:solidFill>
              </a:rPr>
              <a:t>Trình bày → Nghiệp vụ (HRM, Logistic) → Nền tảng (XBOS) → Dữ liệu tập trung theo công ty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7090"/>
                </a:solidFill>
              </a:rPr>
              <a:t>XeVN OS · Thương mại · 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3D7DE8"/>
          </a:solidFill>
          <a:ln w="12700">
            <a:solidFill>
              <a:srgbClr val="3D7D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Vai trò &amp; luồng tích hợp</a:t>
            </a:r>
            <a:endParaRPr lang="en-US" sz="2800" dirty="0"/>
          </a:p>
        </p:txBody>
      </p:sp>
      <p:pic>
        <p:nvPicPr>
          <p:cNvPr id="4" name="Image 0" descr="C:\Users\ADMIN\OneDrive\Tài liệu\Vibe Coding\projects\xevn-ecosystem\docs\ecosystem\assets\kien-truc-vai-tro-luong-xev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960120"/>
            <a:ext cx="8138160" cy="35204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4526280"/>
            <a:ext cx="8138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7090"/>
                </a:solidFill>
              </a:rPr>
              <a:t>XBOS cung cấp danh mục chuẩn cho HRM và Logistic; Cổng Web là điểm điều hành thống nhất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7090"/>
                </a:solidFill>
              </a:rPr>
              <a:t>XeVN OS · Thương mại · 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3D7DE8"/>
          </a:solidFill>
          <a:ln w="12700">
            <a:solidFill>
              <a:srgbClr val="3D7D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Phân tầng dữ liệu — Ai sở hữu gì?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8046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A2740"/>
                </a:solidFill>
              </a:rPr>
              <a:t>Tập đoàn (XBOS): pháp nhân, cây tổ chức, RACI, danh mục nghiệp vụ, quy trình phê duyệt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A2740"/>
                </a:solidFill>
              </a:rPr>
              <a:t>HRM / Logistic: giao dịch vận hành — nhân viên, đơn nghỉ, vận đơn, chuyến, phiếu lương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A2740"/>
                </a:solidFill>
              </a:rPr>
              <a:t>Mỗi công ty con chỉ thấy dữ liệu được phân quyền — không đọc bản dữ liệu công ty khác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A2740"/>
                </a:solidFill>
              </a:rPr>
              <a:t>Mở rộng danh mục tại công ty con: qua quy trình phê duyệt tập đoàn trên XBOS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7090"/>
                </a:solidFill>
              </a:rPr>
              <a:t>XeVN OS · Thương mại · 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3D7DE8"/>
          </a:solidFill>
          <a:ln w="12700">
            <a:solidFill>
              <a:srgbClr val="3D7D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Quy tắc nghiệp vụ toàn hệ (điểm then chốt)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8046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A2740"/>
                </a:solidFill>
              </a:rPr>
              <a:t>Đăng nhập: chỉ dữ liệu thuộc công ty được gán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A2740"/>
                </a:solidFill>
              </a:rPr>
              <a:t>Giao diện nhúng: phủ toàn màn hình cổng — trải nghiệm thống nhất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A2740"/>
                </a:solidFill>
              </a:rPr>
              <a:t>Không xóa trực tiếp trường danh mục chuẩn — yêu cầu phê duyệt tập đoàn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A2740"/>
                </a:solidFill>
              </a:rPr>
              <a:t>Một định nghĩa quy trình — dùng cho đơn nghỉ, mở rộng danh mục, logistic…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7090"/>
                </a:solidFill>
              </a:rPr>
              <a:t>XeVN OS · Thương mại · 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3D7DE8"/>
          </a:solidFill>
          <a:ln w="12700">
            <a:solidFill>
              <a:srgbClr val="3D7D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Logistic — Chuỗi giá trị (150 chức năng)</a:t>
            </a:r>
            <a:endParaRPr lang="en-US" sz="2800" dirty="0"/>
          </a:p>
        </p:txBody>
      </p:sp>
      <p:pic>
        <p:nvPicPr>
          <p:cNvPr id="4" name="Image 0" descr="C:\Users\ADMIN\OneDrive\Tài liệu\Vibe Coding\projects\xevn-ecosystem\docs\ecosystem\assets\chuoi-gia-tri-logistic-xev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960120"/>
            <a:ext cx="8138160" cy="35204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4526280"/>
            <a:ext cx="8138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7090"/>
                </a:solidFill>
              </a:rPr>
              <a:t>Kinh doanh → điều phối → vận đơn/chuyến → ứng dụng lái xe (Giai đoạn 2)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7090"/>
                </a:solidFill>
              </a:rPr>
              <a:t>XeVN OS · Thương mại · 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3D7DE8"/>
          </a:solidFill>
          <a:ln w="12700">
            <a:solidFill>
              <a:srgbClr val="3D7D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Lộ trình triển khai — Hai giai đoạn</a:t>
            </a:r>
            <a:endParaRPr lang="en-US" sz="2800" dirty="0"/>
          </a:p>
        </p:txBody>
      </p:sp>
      <p:pic>
        <p:nvPicPr>
          <p:cNvPr id="4" name="Image 0" descr="C:\Users\ADMIN\OneDrive\Tài liệu\Vibe Coding\projects\xevn-ecosystem\docs\ecosystem\assets\lo-trinh-hai-giai-doan-xev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960120"/>
            <a:ext cx="4114800" cy="3566160"/>
          </a:xfrm>
          <a:prstGeom prst="rect">
            <a:avLst/>
          </a:prstGeom>
        </p:spPr>
      </p:pic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1234440"/>
          <a:ext cx="402336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1508760"/>
                <a:gridCol w="15087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D7D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Giai đoạn 1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D7D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Giai đoạn 2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AB4D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Mục tiêu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XBOS + HRM vận hành; khai danh mục LG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Logistic + app lái xe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Phạm vi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245 chức năng · 183 danh mục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128 chức năng logistic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Ngoài phạm vi GD1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Đơn/chuyến/app lái xe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—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7090"/>
                </a:solidFill>
              </a:rPr>
              <a:t>XeVN OS · Thương mại · 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3D7DE8"/>
          </a:solidFill>
          <a:ln w="12700">
            <a:solidFill>
              <a:srgbClr val="3D7D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Luồng giá trị điển hình (tóm tắt BRD)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8046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A2740"/>
                </a:solidFill>
              </a:rPr>
              <a:t>LUỒNG 6–7: Tập đoàn khai danh mục HRM trên XBOS → phát hành → HRM công ty con đồng bộ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A2740"/>
                </a:solidFill>
              </a:rPr>
              <a:t>LUỒNG 8: Công ty con thiếu mã → gửi lô mở rộng → tập đoàn duyệt trên Cổng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A2740"/>
                </a:solidFill>
              </a:rPr>
              <a:t>LUỒNG 9: Một quy trình phê duyệt — dùng cho đơn nghỉ, danh mục, logistic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A2740"/>
                </a:solidFill>
              </a:rPr>
              <a:t>LUỒNG 5 (GD2): Báo giá → đơn/đặt chỗ → điều phối chuyến → lái xe hoàn tất trên app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44348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7090"/>
                </a:solidFill>
              </a:rPr>
              <a:t>Chi tiết: BRD HTML / tài liệu kỹ thuật SRS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7090"/>
                </a:solidFill>
              </a:rPr>
              <a:t>XeVN OS · Thương mại · 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3D7DE8"/>
          </a:solidFill>
          <a:ln w="12700">
            <a:solidFill>
              <a:srgbClr val="3D7D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 kết nghiệm thu (BRD §13)</a:t>
            </a:r>
            <a:endParaRPr lang="en-US" sz="28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397764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26974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Tiêu chí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7D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7DE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740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740"/>
                          </a:solidFill>
                        </a:rPr>
                        <a:t>Đủ 373 chức năng mô tả &amp; phân loại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740"/>
                          </a:solidFill>
                        </a:rPr>
                        <a:t>2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740"/>
                          </a:solidFill>
                        </a:rPr>
                        <a:t>183 danh mục XBOS (GĐ1)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740"/>
                          </a:solidFill>
                        </a:rPr>
                        <a:t>3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740"/>
                          </a:solidFill>
                        </a:rPr>
                        <a:t>Chuỗi Logistic chạy thật (GĐ2)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740"/>
                          </a:solidFill>
                        </a:rPr>
                        <a:t>4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740"/>
                          </a:solidFill>
                        </a:rPr>
                        <a:t>Phân tách đúng công ty con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740"/>
                          </a:solidFill>
                        </a:rPr>
                        <a:t>5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740"/>
                          </a:solidFill>
                        </a:rPr>
                        <a:t>Phê duyệt tập trung qua XBOS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4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1097280"/>
          <a:ext cx="397764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26974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Bằng chứng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7D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7DE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740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740"/>
                          </a:solidFill>
                        </a:rPr>
                        <a:t>Phụ lục A + SRS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740"/>
                          </a:solidFill>
                        </a:rPr>
                        <a:t>2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740"/>
                          </a:solidFill>
                        </a:rPr>
                        <a:t>Biên bản phát hành danh mục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740"/>
                          </a:solidFill>
                        </a:rPr>
                        <a:t>3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740"/>
                          </a:solidFill>
                        </a:rPr>
                        <a:t>Nghiệm thu thử nghiệm pilot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740"/>
                          </a:solidFill>
                        </a:rPr>
                        <a:t>4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740"/>
                          </a:solidFill>
                        </a:rPr>
                        <a:t>Kiểm thử 2 tài khoản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740"/>
                          </a:solidFill>
                        </a:rPr>
                        <a:t>5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740"/>
                          </a:solidFill>
                        </a:rPr>
                        <a:t>Demo quy trình + hộp thư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7090"/>
                </a:solidFill>
              </a:rPr>
              <a:t>XeVN OS · Thương mại · 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3D7DE8"/>
          </a:solidFill>
          <a:ln w="12700">
            <a:solidFill>
              <a:srgbClr val="3D7D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Đề xuất bước tiếp theo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234440"/>
            <a:ext cx="7772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D7DE8"/>
                </a:solidFill>
              </a:rPr>
              <a:t>1. </a:t>
            </a:r>
            <a:pPr indent="0" marL="0">
              <a:buNone/>
            </a:pPr>
            <a:r>
              <a:rPr lang="en-US" sz="1800" dirty="0">
                <a:solidFill>
                  <a:srgbClr val="1A2740"/>
                </a:solidFill>
              </a:rPr>
              <a:t>Workshop phạm vi 90 phút — xác nhận ưu tiên Giai đoạn 1 &amp; công ty pilot
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3D7DE8"/>
                </a:solidFill>
              </a:rPr>
              <a:t>2. </a:t>
            </a:r>
            <a:pPr indent="0" marL="0">
              <a:buNone/>
            </a:pPr>
            <a:r>
              <a:rPr lang="en-US" sz="1800" dirty="0">
                <a:solidFill>
                  <a:srgbClr val="1A2740"/>
                </a:solidFill>
              </a:rPr>
              <a:t>Demo Cổng Web + HRM Mobile (tài khoản pilot)
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3D7DE8"/>
                </a:solidFill>
              </a:rPr>
              <a:t>3. </a:t>
            </a:r>
            <a:pPr indent="0" marL="0">
              <a:buNone/>
            </a:pPr>
            <a:r>
              <a:rPr lang="en-US" sz="1800" dirty="0">
                <a:solidFill>
                  <a:srgbClr val="1A2740"/>
                </a:solidFill>
              </a:rPr>
              <a:t>Ký kết phạm vi: BRD + SRS + kế hoạch triển khai &amp; nghiệm thu
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3D7DE8"/>
                </a:solidFill>
              </a:rPr>
              <a:t>4. </a:t>
            </a:r>
            <a:pPr indent="0" marL="0">
              <a:buNone/>
            </a:pPr>
            <a:r>
              <a:rPr lang="en-US" sz="1800" dirty="0">
                <a:solidFill>
                  <a:srgbClr val="1A2740"/>
                </a:solidFill>
              </a:rPr>
              <a:t>Khởi động Giai đoạn 1 — XBOS, danh mục, HRM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8404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B4D8"/>
                </a:solidFill>
              </a:rPr>
              <a:t>Liên hệ: UNICOM · XeVN Ecosystem OS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0080" y="434340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7090"/>
                </a:solidFill>
              </a:rPr>
              <a:t>Tài liệu đính kèm: BRD HTML · SRS · Mô tả hệ sinh thái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7090"/>
                </a:solidFill>
              </a:rPr>
              <a:t>XeVN OS · Thương mại · 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E1B2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Cảm ơn Quý vị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28346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AB4D8"/>
                </a:solidFill>
              </a:rPr>
              <a:t>XeVN OS — Đồng hành chuyển đổi số tập đoàn vận tải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XeVN OS — Giới thiệu thương mại</dc:title>
  <dc:subject>Hệ sinh thái phần mềm đa công ty — vận tải &amp; logistics</dc:subject>
  <dc:creator>UNICOM / XeVN</dc:creator>
  <cp:lastModifiedBy>UNICOM / XeVN</cp:lastModifiedBy>
  <cp:revision>1</cp:revision>
  <dcterms:created xsi:type="dcterms:W3CDTF">2026-05-21T08:36:35Z</dcterms:created>
  <dcterms:modified xsi:type="dcterms:W3CDTF">2026-05-21T08:36:35Z</dcterms:modified>
</cp:coreProperties>
</file>